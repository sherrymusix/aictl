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6699"/>
    <a:srgbClr val="EEAEF6"/>
    <a:srgbClr val="E97C30"/>
    <a:srgbClr val="AB14BF"/>
    <a:srgbClr val="EDABF6"/>
    <a:srgbClr val="AE15C1"/>
    <a:srgbClr val="570B60"/>
    <a:srgbClr val="D73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rgbClr val="D73EEA"/>
              </a:solidFill>
            </a:ln>
          </c:spPr>
          <c:dPt>
            <c:idx val="0"/>
            <c:bubble3D val="0"/>
            <c:spPr>
              <a:solidFill>
                <a:srgbClr val="D73EEA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DA-41E8-803D-B8E15A693758}"/>
              </c:ext>
            </c:extLst>
          </c:dPt>
          <c:dPt>
            <c:idx val="1"/>
            <c:bubble3D val="0"/>
            <c:spPr>
              <a:solidFill>
                <a:srgbClr val="570B60"/>
              </a:solidFill>
              <a:ln w="19050">
                <a:solidFill>
                  <a:srgbClr val="D73EE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3DA-41E8-803D-B8E15A693758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  <c:extLst/>
            </c:strRef>
          </c:cat>
          <c:val>
            <c:numRef>
              <c:f>Sheet1!$B$2:$B$5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3DA-41E8-803D-B8E15A6937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semester distribution</c:v>
                </c:pt>
              </c:strCache>
            </c:strRef>
          </c:tx>
          <c:spPr>
            <a:ln>
              <a:solidFill>
                <a:srgbClr val="E97C30"/>
              </a:solidFill>
            </a:ln>
          </c:spPr>
          <c:dPt>
            <c:idx val="0"/>
            <c:bubble3D val="0"/>
            <c:spPr>
              <a:solidFill>
                <a:srgbClr val="AE15C1"/>
              </a:solidFill>
              <a:ln w="25400">
                <a:solidFill>
                  <a:srgbClr val="E97C30"/>
                </a:solidFill>
              </a:ln>
              <a:effectLst/>
              <a:sp3d contourW="25400">
                <a:contourClr>
                  <a:srgbClr val="E97C3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83D-4E1B-8AF6-8B1DD6DBC17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rgbClr val="E97C30"/>
                </a:solidFill>
              </a:ln>
              <a:effectLst/>
              <a:sp3d contourW="25400">
                <a:contourClr>
                  <a:srgbClr val="E97C3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282-4FB3-9F74-C1DD7454277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rgbClr val="E97C30"/>
                </a:solidFill>
              </a:ln>
              <a:effectLst/>
              <a:sp3d contourW="25400">
                <a:contourClr>
                  <a:srgbClr val="E97C3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282-4FB3-9F74-C1DD74542776}"/>
              </c:ext>
            </c:extLst>
          </c:dPt>
          <c:dPt>
            <c:idx val="3"/>
            <c:bubble3D val="0"/>
            <c:spPr>
              <a:solidFill>
                <a:srgbClr val="EDABF6"/>
              </a:solidFill>
              <a:ln w="25400">
                <a:solidFill>
                  <a:srgbClr val="E97C30"/>
                </a:solidFill>
              </a:ln>
              <a:effectLst/>
              <a:sp3d contourW="25400">
                <a:contourClr>
                  <a:srgbClr val="E97C3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D83D-4E1B-8AF6-8B1DD6DBC17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rgbClr val="E97C30"/>
                </a:solidFill>
              </a:ln>
              <a:effectLst/>
              <a:sp3d contourW="25400">
                <a:contourClr>
                  <a:srgbClr val="E97C3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6282-4FB3-9F74-C1DD74542776}"/>
              </c:ext>
            </c:extLst>
          </c:dPt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Sheet1!$A$2:$A$6</c:f>
              <c:strCache>
                <c:ptCount val="5"/>
                <c:pt idx="0">
                  <c:v>1st semester</c:v>
                </c:pt>
                <c:pt idx="1">
                  <c:v>2nd semester</c:v>
                </c:pt>
                <c:pt idx="2">
                  <c:v>3rd semester</c:v>
                </c:pt>
                <c:pt idx="3">
                  <c:v>5th semester</c:v>
                </c:pt>
                <c:pt idx="4">
                  <c:v>8th semester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1.5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3D-4E1B-8AF6-8B1DD6DBC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473394842658306E-2"/>
          <c:y val="0.90740119757682103"/>
          <c:w val="0.95000002403667805"/>
          <c:h val="6.54103404513129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EEAEF6"/>
              </a:solidFill>
              <a:latin typeface="Arial Black" panose="020B0A040201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sports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cricket</c:v>
                </c:pt>
                <c:pt idx="1">
                  <c:v>Badminton</c:v>
                </c:pt>
                <c:pt idx="2">
                  <c:v>Football</c:v>
                </c:pt>
                <c:pt idx="3">
                  <c:v>Table tennis</c:v>
                </c:pt>
                <c:pt idx="4">
                  <c:v>karaty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8.5</c:v>
                </c:pt>
                <c:pt idx="2">
                  <c:v>4.5</c:v>
                </c:pt>
                <c:pt idx="3">
                  <c:v>2.5</c:v>
                </c:pt>
                <c:pt idx="4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3-4CDA-96F5-538662FD4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51605312"/>
        <c:axId val="551606272"/>
      </c:barChart>
      <c:catAx>
        <c:axId val="551605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EEAEF6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  <c:crossAx val="551606272"/>
        <c:crosses val="autoZero"/>
        <c:auto val="1"/>
        <c:lblAlgn val="ctr"/>
        <c:lblOffset val="100"/>
        <c:noMultiLvlLbl val="0"/>
      </c:catAx>
      <c:valAx>
        <c:axId val="551606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EEAEF6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  <c:crossAx val="551605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39BC-6672-709C-10DE-2CA994CFC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8A422-F144-374C-CE65-D86DACF01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C2168-6B2E-898D-FD7A-6D40B2B8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49472-978D-F3E7-AFA6-D39A6CF5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0E7A9-39AC-E464-4C82-A65C688B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5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4567-BC0F-F1BF-1327-2D308A8E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857C-A409-FC58-5475-57E88EA4E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47EDB-A41F-AF4E-4ABB-0D5D598B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ECD22-6DD6-BE0D-6EAD-AE49F6F5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31421-D4AE-1681-3946-746C6FE7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7F18-0E6E-77AC-45E0-94497B52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120C8-6EA8-3F1B-A8FA-D29417137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06F72-E8D1-F97B-0BD4-3C28EDD6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D9D02-29BC-B301-1D2E-2BA406A6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C4EA2-A42F-DF6F-767A-CDC7E5C4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1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854A-CAAE-5C0D-59EE-A558934D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02CFD-B9BC-A4BA-9BD1-9FE1D2DD0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206AF-7323-6E97-94B2-5F9EE2C68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B84EF-3761-6D67-EAF8-AB1E6268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6EFD3-47C6-E5A7-F071-D8037C62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742E8-6845-43FB-CBA6-08E042B0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1B3A-F1DC-559F-2585-C044DC4C7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2AAA0-7AFD-B499-85FF-1AAEE7157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6A04C-DEC5-A9C7-340A-E8E96D8C6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8A076-4415-C09B-89E8-950398BDA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1B0F5-7171-DCC0-1C2F-227BF82B1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39DBC-2420-C4D4-62C4-FD58ED4B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111A7-31F8-334B-35C2-70F537C9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D2040-9080-C4B0-C7FE-6F37BCAE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33B2-85FD-F4F5-ACFD-16CEE006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98675-0826-9715-1D77-58BE4CD5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6F8C0-3974-5CE4-8781-285947F3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0A2E0-D962-D2C3-EDD6-2B3E5B16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4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458E3-E18D-47DB-2E62-3AC323AB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A0651E-80E5-28D1-0913-C619CC7D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B8AB-CF0F-E186-B362-6D341C49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8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DF58-C7CE-C1D1-5353-B484F706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39CFB-0298-1870-83CC-DBBC4FE83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6CA83-39A6-406E-16F8-066CAAAC6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8B421-B946-C74B-7BAE-D71EBB10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53DDC-4FE6-9547-61BB-115F1C4D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E756D-086A-888C-8737-1DDF8F00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99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F9E7-64DF-98B2-3DED-3AFC4C92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9DD8A-77BB-19DF-6E75-07270B962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CCB3D-5C11-C30C-08F8-D43686979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F69D6-1800-70D7-CD8E-A9137C45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3E361-125D-51D1-AF0B-88ED4073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4154C-1471-7ACA-A740-0CD7AEF1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8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AF5D-D303-84CF-0147-E80BB0E1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A2946-D8BE-FE1D-35A7-F8645DD56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EF925-B827-E9A3-B4B7-772D7431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B59AD-8628-501D-030D-448B91D2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7A6B0-9985-861A-66F7-6405143C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2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34DF0-A542-24E6-8F3A-56416BF7E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DE02C-AE69-55B2-9017-4AF68449E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C7878-CBA8-9E76-3501-F3FA0DB9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A8C9D-B21B-6DC3-D174-FC0CFD6C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771E8-BB19-B50C-DF36-6F6115EE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9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A6FD8-3084-5736-7586-C7AFC230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16B7-BDAB-FF48-8DBD-B2E319F04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35F03-3499-3CCE-5B16-D824D1FC1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3A1D4-681C-4D87-BA83-0F78AAA8CC15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8A52F-388E-4DD2-213E-BE4F53336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2E87A-A2FB-A56C-08A6-96844EF2B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F5C2D-779C-4C64-9E1A-B80DE77F0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5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93B69ADE-90F0-A6A2-DDC5-64A5539B3514}"/>
              </a:ext>
            </a:extLst>
          </p:cNvPr>
          <p:cNvSpPr/>
          <p:nvPr/>
        </p:nvSpPr>
        <p:spPr>
          <a:xfrm>
            <a:off x="405415" y="1371600"/>
            <a:ext cx="11786585" cy="21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University Sports Engagement at UET Lahore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C33A326-04D1-2509-A489-9CB09371CBB3}"/>
              </a:ext>
            </a:extLst>
          </p:cNvPr>
          <p:cNvSpPr/>
          <p:nvPr/>
        </p:nvSpPr>
        <p:spPr>
          <a:xfrm>
            <a:off x="405415" y="2292828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AICTL Mid Project </a:t>
            </a:r>
            <a:endParaRPr lang="en-US" sz="175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3C88F86-7BDA-F117-1BF8-CAC45092B489}"/>
              </a:ext>
            </a:extLst>
          </p:cNvPr>
          <p:cNvSpPr/>
          <p:nvPr/>
        </p:nvSpPr>
        <p:spPr>
          <a:xfrm>
            <a:off x="405415" y="2910881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Course: Applications of Information and Communication Technology Lab</a:t>
            </a:r>
            <a:endParaRPr lang="en-US" sz="175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FCF0EDA-3776-AD2E-0070-4C3BBA72E0E9}"/>
              </a:ext>
            </a:extLst>
          </p:cNvPr>
          <p:cNvSpPr/>
          <p:nvPr/>
        </p:nvSpPr>
        <p:spPr>
          <a:xfrm>
            <a:off x="405415" y="5694216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Instructor: </a:t>
            </a:r>
            <a:r>
              <a:rPr lang="en-US" sz="2400" dirty="0">
                <a:solidFill>
                  <a:srgbClr val="E5DCE6"/>
                </a:solidFill>
                <a:latin typeface="Arial Black" panose="020B0A04020102020204" pitchFamily="34" charset="0"/>
                <a:ea typeface="Montserrat" pitchFamily="34" charset="-122"/>
                <a:cs typeface="Montserrat" pitchFamily="34" charset="-120"/>
              </a:rPr>
              <a:t>Ms. Ramsha Khalid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C40631E5-B56E-7E1A-4DA4-A5662DCC7064}"/>
              </a:ext>
            </a:extLst>
          </p:cNvPr>
          <p:cNvSpPr/>
          <p:nvPr/>
        </p:nvSpPr>
        <p:spPr>
          <a:xfrm>
            <a:off x="405414" y="3640182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Members:</a:t>
            </a:r>
            <a:endParaRPr lang="en-US" sz="17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C382179-AE71-61E6-580E-84A7D0712787}"/>
              </a:ext>
            </a:extLst>
          </p:cNvPr>
          <p:cNvSpPr/>
          <p:nvPr/>
        </p:nvSpPr>
        <p:spPr>
          <a:xfrm>
            <a:off x="405414" y="4258236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Malik Shaher Yar Ahmad (2025-GA-27)</a:t>
            </a:r>
            <a:endParaRPr lang="en-US" sz="17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BA488C5-B49E-A708-2307-42ABF3ABE2A1}"/>
              </a:ext>
            </a:extLst>
          </p:cNvPr>
          <p:cNvSpPr/>
          <p:nvPr/>
        </p:nvSpPr>
        <p:spPr>
          <a:xfrm>
            <a:off x="405414" y="4700434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Sagheer (2025-GA-14)</a:t>
            </a:r>
            <a:endParaRPr lang="en-US" sz="17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BE8A663-CB74-FA5C-0881-6B145F361F92}"/>
              </a:ext>
            </a:extLst>
          </p:cNvPr>
          <p:cNvSpPr/>
          <p:nvPr/>
        </p:nvSpPr>
        <p:spPr>
          <a:xfrm>
            <a:off x="405414" y="5142632"/>
            <a:ext cx="12236637" cy="109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Johar Ali (2025-GA-56)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86345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A75F54B-1C05-FF08-A1BB-F4F6C765C919}"/>
              </a:ext>
            </a:extLst>
          </p:cNvPr>
          <p:cNvSpPr/>
          <p:nvPr/>
        </p:nvSpPr>
        <p:spPr>
          <a:xfrm>
            <a:off x="309444" y="1204254"/>
            <a:ext cx="818602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6699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Why Sports Matter for Students</a:t>
            </a:r>
            <a:endParaRPr lang="en-US" sz="4050" dirty="0">
              <a:solidFill>
                <a:srgbClr val="FF6699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31D9C8D-FDAA-91E5-DA9D-9DC17F0DBA76}"/>
              </a:ext>
            </a:extLst>
          </p:cNvPr>
          <p:cNvSpPr/>
          <p:nvPr/>
        </p:nvSpPr>
        <p:spPr>
          <a:xfrm>
            <a:off x="180260" y="2106271"/>
            <a:ext cx="6220540" cy="1363385"/>
          </a:xfrm>
          <a:prstGeom prst="roundRect">
            <a:avLst>
              <a:gd name="adj" fmla="val 5706"/>
            </a:avLst>
          </a:prstGeom>
          <a:solidFill>
            <a:srgbClr val="282D5E"/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96BCA5D5-FFA6-F4AE-57A1-DA493F55D34B}"/>
              </a:ext>
            </a:extLst>
          </p:cNvPr>
          <p:cNvSpPr/>
          <p:nvPr/>
        </p:nvSpPr>
        <p:spPr>
          <a:xfrm>
            <a:off x="6729413" y="2050848"/>
            <a:ext cx="5282327" cy="1418808"/>
          </a:xfrm>
          <a:prstGeom prst="roundRect">
            <a:avLst>
              <a:gd name="adj" fmla="val 5706"/>
            </a:avLst>
          </a:prstGeom>
          <a:solidFill>
            <a:srgbClr val="282D5E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EE933A0-5A3A-3E27-99EF-40C798600576}"/>
              </a:ext>
            </a:extLst>
          </p:cNvPr>
          <p:cNvSpPr/>
          <p:nvPr/>
        </p:nvSpPr>
        <p:spPr>
          <a:xfrm>
            <a:off x="515541" y="2363923"/>
            <a:ext cx="4640580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Physical Fitness and Health Benefits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DDC8812-7989-9020-1616-EABFD305DBC1}"/>
              </a:ext>
            </a:extLst>
          </p:cNvPr>
          <p:cNvSpPr/>
          <p:nvPr/>
        </p:nvSpPr>
        <p:spPr>
          <a:xfrm>
            <a:off x="425589" y="2728846"/>
            <a:ext cx="6078260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Strengthens body, improves cardiovascular health, and promotes overall wellness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5AEB77-E435-A27C-D10C-DE9313C4300D}"/>
              </a:ext>
            </a:extLst>
          </p:cNvPr>
          <p:cNvSpPr/>
          <p:nvPr/>
        </p:nvSpPr>
        <p:spPr>
          <a:xfrm>
            <a:off x="6839130" y="2223252"/>
            <a:ext cx="4593552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Mental Health Stress Relief &amp; Focus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868A3A1-B992-75A7-F537-9241076F2F2A}"/>
              </a:ext>
            </a:extLst>
          </p:cNvPr>
          <p:cNvSpPr/>
          <p:nvPr/>
        </p:nvSpPr>
        <p:spPr>
          <a:xfrm>
            <a:off x="6839129" y="2768379"/>
            <a:ext cx="4799649" cy="62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Reduces anxiety, enhances concentration, and improves emotional wellbeing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31B918C-5A3D-B5FA-C8A3-D1922CE69AA9}"/>
              </a:ext>
            </a:extLst>
          </p:cNvPr>
          <p:cNvSpPr/>
          <p:nvPr/>
        </p:nvSpPr>
        <p:spPr>
          <a:xfrm>
            <a:off x="309444" y="3881851"/>
            <a:ext cx="6078260" cy="1517928"/>
          </a:xfrm>
          <a:prstGeom prst="roundRect">
            <a:avLst>
              <a:gd name="adj" fmla="val 5706"/>
            </a:avLst>
          </a:prstGeom>
          <a:solidFill>
            <a:srgbClr val="282D5E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1A31BBF-0085-A31E-249A-D1E5BD8FB54F}"/>
              </a:ext>
            </a:extLst>
          </p:cNvPr>
          <p:cNvSpPr/>
          <p:nvPr/>
        </p:nvSpPr>
        <p:spPr>
          <a:xfrm>
            <a:off x="515541" y="4087948"/>
            <a:ext cx="5488543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Team-Building, Leadership and Social Skills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149E768-2880-0BB0-6660-A51DC8F075CF}"/>
              </a:ext>
            </a:extLst>
          </p:cNvPr>
          <p:cNvSpPr/>
          <p:nvPr/>
        </p:nvSpPr>
        <p:spPr>
          <a:xfrm>
            <a:off x="515541" y="4533837"/>
            <a:ext cx="5580459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Develops collaboration, communication, and interpersonal relationships</a:t>
            </a:r>
            <a:endParaRPr lang="en-US" sz="1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3EAE7D7-709F-A5A8-0100-7E90FF1D8C9F}"/>
              </a:ext>
            </a:extLst>
          </p:cNvPr>
          <p:cNvSpPr/>
          <p:nvPr/>
        </p:nvSpPr>
        <p:spPr>
          <a:xfrm>
            <a:off x="6729413" y="3881851"/>
            <a:ext cx="5282327" cy="1517928"/>
          </a:xfrm>
          <a:prstGeom prst="roundRect">
            <a:avLst>
              <a:gd name="adj" fmla="val 5706"/>
            </a:avLst>
          </a:prstGeom>
          <a:solidFill>
            <a:srgbClr val="282D5E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948C968-4894-D2A6-F27D-2F6D3EA8B9E8}"/>
              </a:ext>
            </a:extLst>
          </p:cNvPr>
          <p:cNvSpPr/>
          <p:nvPr/>
        </p:nvSpPr>
        <p:spPr>
          <a:xfrm>
            <a:off x="6839129" y="3983884"/>
            <a:ext cx="4966515" cy="644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Boosts Discipline, Time Management and Confidence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CFE03D5-C7DF-A9E3-3FBB-72AFC52233B0}"/>
              </a:ext>
            </a:extLst>
          </p:cNvPr>
          <p:cNvSpPr/>
          <p:nvPr/>
        </p:nvSpPr>
        <p:spPr>
          <a:xfrm>
            <a:off x="6839129" y="4669954"/>
            <a:ext cx="5043427" cy="38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self-esteem, responsibility,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personal resilience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3757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E11F08-6FE0-D151-056F-82EE6911D134}"/>
              </a:ext>
            </a:extLst>
          </p:cNvPr>
          <p:cNvSpPr/>
          <p:nvPr/>
        </p:nvSpPr>
        <p:spPr>
          <a:xfrm>
            <a:off x="165140" y="6759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Survey Approach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14DD0D-F23F-3543-4FEA-A48533C0E2F8}"/>
              </a:ext>
            </a:extLst>
          </p:cNvPr>
          <p:cNvSpPr/>
          <p:nvPr/>
        </p:nvSpPr>
        <p:spPr>
          <a:xfrm>
            <a:off x="165140" y="183832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60E5CD-A9A3-3738-F63E-6EFC91B0DBAD}"/>
              </a:ext>
            </a:extLst>
          </p:cNvPr>
          <p:cNvSpPr/>
          <p:nvPr/>
        </p:nvSpPr>
        <p:spPr>
          <a:xfrm>
            <a:off x="165140" y="2223849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4A08C7-70CF-A497-D994-17416532ED54}"/>
              </a:ext>
            </a:extLst>
          </p:cNvPr>
          <p:cNvSpPr/>
          <p:nvPr/>
        </p:nvSpPr>
        <p:spPr>
          <a:xfrm>
            <a:off x="165140" y="2367677"/>
            <a:ext cx="2837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Google Form Survey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2713C37-A8B8-F1AD-9EF4-C49965F362FB}"/>
              </a:ext>
            </a:extLst>
          </p:cNvPr>
          <p:cNvSpPr/>
          <p:nvPr/>
        </p:nvSpPr>
        <p:spPr>
          <a:xfrm>
            <a:off x="165140" y="285809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Anonymous responses collected to ensure honest feedback from participants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3AD22A-8E36-FEAB-6675-A6D048F76736}"/>
              </a:ext>
            </a:extLst>
          </p:cNvPr>
          <p:cNvSpPr/>
          <p:nvPr/>
        </p:nvSpPr>
        <p:spPr>
          <a:xfrm>
            <a:off x="6799898" y="183832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E60C135-F215-90DF-4085-EB7323203315}"/>
              </a:ext>
            </a:extLst>
          </p:cNvPr>
          <p:cNvSpPr/>
          <p:nvPr/>
        </p:nvSpPr>
        <p:spPr>
          <a:xfrm>
            <a:off x="6799898" y="2367677"/>
            <a:ext cx="39083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34 Valid Student Responses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A5CA8A4-F873-A6A6-8D23-DB9B393827DF}"/>
              </a:ext>
            </a:extLst>
          </p:cNvPr>
          <p:cNvSpPr/>
          <p:nvPr/>
        </p:nvSpPr>
        <p:spPr>
          <a:xfrm>
            <a:off x="6799898" y="2858095"/>
            <a:ext cx="460152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data gathered from diverse student population across semesters</a:t>
            </a:r>
            <a:endParaRPr lang="en-US" sz="17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1895309-789E-78B6-FEEF-31FC43F4B09D}"/>
              </a:ext>
            </a:extLst>
          </p:cNvPr>
          <p:cNvSpPr/>
          <p:nvPr/>
        </p:nvSpPr>
        <p:spPr>
          <a:xfrm>
            <a:off x="165140" y="3980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7250CBA-6F11-7A90-85BE-0BBF89BEE461}"/>
              </a:ext>
            </a:extLst>
          </p:cNvPr>
          <p:cNvSpPr/>
          <p:nvPr/>
        </p:nvSpPr>
        <p:spPr>
          <a:xfrm>
            <a:off x="165140" y="4335780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4F5223E-B391-B730-1FE8-D796534C37ED}"/>
              </a:ext>
            </a:extLst>
          </p:cNvPr>
          <p:cNvSpPr/>
          <p:nvPr/>
        </p:nvSpPr>
        <p:spPr>
          <a:xfrm>
            <a:off x="165140" y="4510088"/>
            <a:ext cx="30913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Mixed Question Types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01A8505-D43D-547D-20F5-DE71C0B23E5B}"/>
              </a:ext>
            </a:extLst>
          </p:cNvPr>
          <p:cNvSpPr/>
          <p:nvPr/>
        </p:nvSpPr>
        <p:spPr>
          <a:xfrm>
            <a:off x="165140" y="500050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MCQ, checkbox, scale, and paragraph questions for detailed insights</a:t>
            </a:r>
            <a:endParaRPr lang="en-US" sz="175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6575440-ADF3-FB96-4648-6D0FD4BA3C2D}"/>
              </a:ext>
            </a:extLst>
          </p:cNvPr>
          <p:cNvSpPr/>
          <p:nvPr/>
        </p:nvSpPr>
        <p:spPr>
          <a:xfrm>
            <a:off x="6799898" y="3980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7A3C9735-E9AE-BD6D-4510-9967D4201E22}"/>
              </a:ext>
            </a:extLst>
          </p:cNvPr>
          <p:cNvSpPr/>
          <p:nvPr/>
        </p:nvSpPr>
        <p:spPr>
          <a:xfrm>
            <a:off x="6799899" y="4335780"/>
            <a:ext cx="5226962" cy="64532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D8D27B7-EB79-5B8F-C081-FC8F66F31ACC}"/>
              </a:ext>
            </a:extLst>
          </p:cNvPr>
          <p:cNvSpPr/>
          <p:nvPr/>
        </p:nvSpPr>
        <p:spPr>
          <a:xfrm>
            <a:off x="6799898" y="4510088"/>
            <a:ext cx="31771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Data Exported to Excel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A1CB74A4-FED0-FC55-FF73-A2EDF0D7B8FB}"/>
              </a:ext>
            </a:extLst>
          </p:cNvPr>
          <p:cNvSpPr/>
          <p:nvPr/>
        </p:nvSpPr>
        <p:spPr>
          <a:xfrm>
            <a:off x="6799899" y="5000506"/>
            <a:ext cx="522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analysis and organisation of all survey responses</a:t>
            </a:r>
            <a:endParaRPr lang="en-US" sz="175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DDD10C96-DCE1-0DD7-56B8-2E7BA95D2DF6}"/>
              </a:ext>
            </a:extLst>
          </p:cNvPr>
          <p:cNvSpPr/>
          <p:nvPr/>
        </p:nvSpPr>
        <p:spPr>
          <a:xfrm>
            <a:off x="6733937" y="2195900"/>
            <a:ext cx="5292923" cy="58429"/>
          </a:xfrm>
          <a:prstGeom prst="rect">
            <a:avLst/>
          </a:prstGeom>
          <a:solidFill>
            <a:srgbClr val="EEAEF6"/>
          </a:solidFill>
          <a:ln/>
        </p:spPr>
      </p:sp>
    </p:spTree>
    <p:extLst>
      <p:ext uri="{BB962C8B-B14F-4D97-AF65-F5344CB8AC3E}">
        <p14:creationId xmlns:p14="http://schemas.microsoft.com/office/powerpoint/2010/main" val="29608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844DC7-5194-A158-CB01-86410C6C138B}"/>
              </a:ext>
            </a:extLst>
          </p:cNvPr>
          <p:cNvSpPr/>
          <p:nvPr/>
        </p:nvSpPr>
        <p:spPr>
          <a:xfrm>
            <a:off x="263723" y="753785"/>
            <a:ext cx="60400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Student Gender Ratio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B4739A0-0427-8863-5945-61A12B5B0488}"/>
              </a:ext>
            </a:extLst>
          </p:cNvPr>
          <p:cNvSpPr/>
          <p:nvPr/>
        </p:nvSpPr>
        <p:spPr>
          <a:xfrm>
            <a:off x="799743" y="539543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70B60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AAD9C6A-2FDA-0269-14D2-CAE37D1C3812}"/>
              </a:ext>
            </a:extLst>
          </p:cNvPr>
          <p:cNvSpPr/>
          <p:nvPr/>
        </p:nvSpPr>
        <p:spPr>
          <a:xfrm>
            <a:off x="1087517" y="5395436"/>
            <a:ext cx="1637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Students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97B1F7-E71E-2B60-9E09-6CB84DBEBBED}"/>
              </a:ext>
            </a:extLst>
          </p:cNvPr>
          <p:cNvSpPr/>
          <p:nvPr/>
        </p:nvSpPr>
        <p:spPr>
          <a:xfrm>
            <a:off x="3165634" y="5395436"/>
            <a:ext cx="193833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Students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769A35F-B2FF-1222-E7BE-84459959F2CD}"/>
              </a:ext>
            </a:extLst>
          </p:cNvPr>
          <p:cNvSpPr/>
          <p:nvPr/>
        </p:nvSpPr>
        <p:spPr>
          <a:xfrm>
            <a:off x="6237958" y="24662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Gender Distribution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2570A74-C1BF-B216-99C5-B3B2BAD3367E}"/>
              </a:ext>
            </a:extLst>
          </p:cNvPr>
          <p:cNvSpPr/>
          <p:nvPr/>
        </p:nvSpPr>
        <p:spPr>
          <a:xfrm>
            <a:off x="6237958" y="30474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Students: 23 (≈68%)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DEC7A8-4DD0-AC03-B7AE-4E40EF68835F}"/>
              </a:ext>
            </a:extLst>
          </p:cNvPr>
          <p:cNvSpPr/>
          <p:nvPr/>
        </p:nvSpPr>
        <p:spPr>
          <a:xfrm>
            <a:off x="6237958" y="36143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Students: 11 (≈32%)</a:t>
            </a:r>
            <a:endParaRPr lang="en-US" sz="175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F54BEDC-6D12-AE00-F5FB-C72D01CCA905}"/>
              </a:ext>
            </a:extLst>
          </p:cNvPr>
          <p:cNvSpPr/>
          <p:nvPr/>
        </p:nvSpPr>
        <p:spPr>
          <a:xfrm>
            <a:off x="2877860" y="539543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D73EEA"/>
          </a:solidFill>
          <a:ln/>
        </p:spPr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AAE3E2F-07F6-19FE-6A7C-370133B30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998860"/>
              </p:ext>
            </p:extLst>
          </p:nvPr>
        </p:nvGraphicFramePr>
        <p:xfrm>
          <a:off x="527689" y="1358965"/>
          <a:ext cx="4349469" cy="3508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171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294008-EB1E-E1D1-29C4-12218AB5FF4A}"/>
              </a:ext>
            </a:extLst>
          </p:cNvPr>
          <p:cNvSpPr/>
          <p:nvPr/>
        </p:nvSpPr>
        <p:spPr>
          <a:xfrm>
            <a:off x="681038" y="445088"/>
            <a:ext cx="4796875" cy="382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Semester Distribution </a:t>
            </a:r>
            <a:endParaRPr lang="en-US" sz="3100" dirty="0">
              <a:latin typeface="Arial Black" panose="020B0A040201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A5DAD83-E29D-9403-A61B-5C565CCC34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041829"/>
              </p:ext>
            </p:extLst>
          </p:nvPr>
        </p:nvGraphicFramePr>
        <p:xfrm>
          <a:off x="2089150" y="1076854"/>
          <a:ext cx="6240463" cy="5138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551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8B1C48-9272-F76E-BE36-927BE092DEAE}"/>
              </a:ext>
            </a:extLst>
          </p:cNvPr>
          <p:cNvSpPr/>
          <p:nvPr/>
        </p:nvSpPr>
        <p:spPr>
          <a:xfrm>
            <a:off x="399505" y="376293"/>
            <a:ext cx="7087145" cy="901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Sports Participation Frequency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216C0F7-6B20-829D-B140-6FE53C4781D4}"/>
              </a:ext>
            </a:extLst>
          </p:cNvPr>
          <p:cNvSpPr/>
          <p:nvPr/>
        </p:nvSpPr>
        <p:spPr>
          <a:xfrm>
            <a:off x="399505" y="2081388"/>
            <a:ext cx="7087145" cy="461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engagement suggests potential for organized leagues</a:t>
            </a:r>
            <a:r>
              <a:rPr lang="en-US" sz="2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UET Lahore</a:t>
            </a:r>
            <a:r>
              <a:rPr lang="en-US" sz="2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53578C-1C1F-6E0F-DACB-35D337385390}"/>
              </a:ext>
            </a:extLst>
          </p:cNvPr>
          <p:cNvSpPr/>
          <p:nvPr/>
        </p:nvSpPr>
        <p:spPr>
          <a:xfrm>
            <a:off x="399505" y="3447011"/>
            <a:ext cx="8173746" cy="1735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Arial Black" panose="020B0A04020102020204" pitchFamily="34" charset="0"/>
                <a:ea typeface="Montserrat" pitchFamily="34" charset="-122"/>
                <a:cs typeface="Montserrat" pitchFamily="34" charset="-120"/>
              </a:rPr>
              <a:t>Some students play occasionally or not at all, indicating varying levels of engagement.</a:t>
            </a:r>
            <a:endParaRPr lang="en-US" sz="175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32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13952E-00BE-1A06-82EE-60CB9498C876}"/>
              </a:ext>
            </a:extLst>
          </p:cNvPr>
          <p:cNvSpPr/>
          <p:nvPr/>
        </p:nvSpPr>
        <p:spPr>
          <a:xfrm>
            <a:off x="536138" y="421243"/>
            <a:ext cx="3899178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Most Popular Sports</a:t>
            </a:r>
            <a:endParaRPr lang="en-US" sz="3000" dirty="0">
              <a:latin typeface="Arial Black" panose="020B0A04020102020204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FC29D2E-A3DC-E881-85F2-E01AB4A1C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8365305"/>
              </p:ext>
            </p:extLst>
          </p:nvPr>
        </p:nvGraphicFramePr>
        <p:xfrm>
          <a:off x="723900" y="899993"/>
          <a:ext cx="8026400" cy="5252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8597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076DB2B-B564-D157-3C1B-D19CEFB63F31}"/>
              </a:ext>
            </a:extLst>
          </p:cNvPr>
          <p:cNvSpPr/>
          <p:nvPr/>
        </p:nvSpPr>
        <p:spPr>
          <a:xfrm>
            <a:off x="179428" y="249198"/>
            <a:ext cx="95145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Satisfaction With Sports Facilities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80E937F-5BF7-B300-23D3-AB42BB5F3CDD}"/>
              </a:ext>
            </a:extLst>
          </p:cNvPr>
          <p:cNvSpPr/>
          <p:nvPr/>
        </p:nvSpPr>
        <p:spPr>
          <a:xfrm>
            <a:off x="336590" y="1335286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B758EF8-A241-66A3-B633-EF171B473578}"/>
              </a:ext>
            </a:extLst>
          </p:cNvPr>
          <p:cNvSpPr/>
          <p:nvPr/>
        </p:nvSpPr>
        <p:spPr>
          <a:xfrm>
            <a:off x="306110" y="133528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D341285-FF04-8B2B-01EB-0F63B4C1DE9E}"/>
              </a:ext>
            </a:extLst>
          </p:cNvPr>
          <p:cNvSpPr/>
          <p:nvPr/>
        </p:nvSpPr>
        <p:spPr>
          <a:xfrm>
            <a:off x="685324" y="1592580"/>
            <a:ext cx="3567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Mixed Satisfaction Levels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C305A76-EE8D-0857-2A2A-B2B3341FC78B}"/>
              </a:ext>
            </a:extLst>
          </p:cNvPr>
          <p:cNvSpPr/>
          <p:nvPr/>
        </p:nvSpPr>
        <p:spPr>
          <a:xfrm>
            <a:off x="685324" y="208299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students satisfied, many unsatisfied with current facilities</a:t>
            </a:r>
            <a:endParaRPr lang="en-US" sz="17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39BB851-90B1-5241-7A37-137789B1DB6A}"/>
              </a:ext>
            </a:extLst>
          </p:cNvPr>
          <p:cNvSpPr/>
          <p:nvPr/>
        </p:nvSpPr>
        <p:spPr>
          <a:xfrm>
            <a:off x="5057712" y="1335286"/>
            <a:ext cx="4083304" cy="1992114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1E761A0-FB12-35DC-D29C-EAE1CE824939}"/>
              </a:ext>
            </a:extLst>
          </p:cNvPr>
          <p:cNvSpPr/>
          <p:nvPr/>
        </p:nvSpPr>
        <p:spPr>
          <a:xfrm>
            <a:off x="5072182" y="1335286"/>
            <a:ext cx="118635" cy="1992114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6B573F2-84C3-3E33-14CF-FCF798424F14}"/>
              </a:ext>
            </a:extLst>
          </p:cNvPr>
          <p:cNvSpPr/>
          <p:nvPr/>
        </p:nvSpPr>
        <p:spPr>
          <a:xfrm>
            <a:off x="5451396" y="1592580"/>
            <a:ext cx="2945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Equipment Concerns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9C88DB9-E9DD-19F0-7F4C-39F53815828A}"/>
              </a:ext>
            </a:extLst>
          </p:cNvPr>
          <p:cNvSpPr/>
          <p:nvPr/>
        </p:nvSpPr>
        <p:spPr>
          <a:xfrm>
            <a:off x="5451396" y="208299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complaint regarding availability and quality of sports equipment</a:t>
            </a:r>
            <a:endParaRPr lang="en-US" sz="17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2F1CDC1-69EA-CE61-8215-8EFA2A0FD40A}"/>
              </a:ext>
            </a:extLst>
          </p:cNvPr>
          <p:cNvSpPr/>
          <p:nvPr/>
        </p:nvSpPr>
        <p:spPr>
          <a:xfrm>
            <a:off x="336590" y="368629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60488E5-1496-E29A-B412-6E245AB7262B}"/>
              </a:ext>
            </a:extLst>
          </p:cNvPr>
          <p:cNvSpPr/>
          <p:nvPr/>
        </p:nvSpPr>
        <p:spPr>
          <a:xfrm>
            <a:off x="336590" y="3686294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9ADCF2C-038A-EED6-4F23-5C13F1B6D48F}"/>
              </a:ext>
            </a:extLst>
          </p:cNvPr>
          <p:cNvSpPr/>
          <p:nvPr/>
        </p:nvSpPr>
        <p:spPr>
          <a:xfrm>
            <a:off x="715805" y="3943588"/>
            <a:ext cx="3085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Ground Quality Issues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5615C4F-53C8-F055-7D61-770C6B0F52C1}"/>
              </a:ext>
            </a:extLst>
          </p:cNvPr>
          <p:cNvSpPr/>
          <p:nvPr/>
        </p:nvSpPr>
        <p:spPr>
          <a:xfrm>
            <a:off x="715805" y="443400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maintenance and drainage affecting playing conditions</a:t>
            </a:r>
            <a:endParaRPr lang="en-US" sz="175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9CF4536-C8AE-5098-3ABC-A0FB38B15BE4}"/>
              </a:ext>
            </a:extLst>
          </p:cNvPr>
          <p:cNvSpPr/>
          <p:nvPr/>
        </p:nvSpPr>
        <p:spPr>
          <a:xfrm>
            <a:off x="5170766" y="3686294"/>
            <a:ext cx="4083304" cy="2093714"/>
          </a:xfrm>
          <a:prstGeom prst="roundRect">
            <a:avLst>
              <a:gd name="adj" fmla="val 5976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B6122B3-33FB-9B5F-5C82-00F516A0D4D6}"/>
              </a:ext>
            </a:extLst>
          </p:cNvPr>
          <p:cNvSpPr/>
          <p:nvPr/>
        </p:nvSpPr>
        <p:spPr>
          <a:xfrm>
            <a:off x="5072182" y="3704708"/>
            <a:ext cx="118636" cy="2075299"/>
          </a:xfrm>
          <a:prstGeom prst="roundRect">
            <a:avLst>
              <a:gd name="adj" fmla="val 78139"/>
            </a:avLst>
          </a:prstGeom>
          <a:solidFill>
            <a:srgbClr val="EEAEF6"/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C41A858-F2BB-F3F5-76ED-E0C2CA1CE552}"/>
              </a:ext>
            </a:extLst>
          </p:cNvPr>
          <p:cNvSpPr/>
          <p:nvPr/>
        </p:nvSpPr>
        <p:spPr>
          <a:xfrm>
            <a:off x="5370385" y="3756893"/>
            <a:ext cx="3493603" cy="641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Coaching and Event Organisation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0E4AD4B-459B-110B-BF7A-09A63B569812}"/>
              </a:ext>
            </a:extLst>
          </p:cNvPr>
          <p:cNvSpPr/>
          <p:nvPr/>
        </p:nvSpPr>
        <p:spPr>
          <a:xfrm>
            <a:off x="5451396" y="4537894"/>
            <a:ext cx="3493603" cy="98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professional guidance and structured tournament scheduling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82480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6CBCAA-CE6B-BC60-FEAD-54279EA04B5B}"/>
              </a:ext>
            </a:extLst>
          </p:cNvPr>
          <p:cNvSpPr/>
          <p:nvPr/>
        </p:nvSpPr>
        <p:spPr>
          <a:xfrm>
            <a:off x="247979" y="146403"/>
            <a:ext cx="6645950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EEAEF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Key Improvement Areas</a:t>
            </a:r>
            <a:endParaRPr lang="en-US" sz="4350" dirty="0">
              <a:latin typeface="Arial Black" panose="020B0A040201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652A03-5EA9-1584-3F06-437F778FBB03}"/>
              </a:ext>
            </a:extLst>
          </p:cNvPr>
          <p:cNvSpPr/>
          <p:nvPr/>
        </p:nvSpPr>
        <p:spPr>
          <a:xfrm>
            <a:off x="304478" y="2076806"/>
            <a:ext cx="3415336" cy="32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Hire Professional Coaches and Trainers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B08FE9-ED22-AC29-F964-3ADBEA71E71E}"/>
              </a:ext>
            </a:extLst>
          </p:cNvPr>
          <p:cNvSpPr/>
          <p:nvPr/>
        </p:nvSpPr>
        <p:spPr>
          <a:xfrm>
            <a:off x="304477" y="2558772"/>
            <a:ext cx="4166973" cy="672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Bring expert guidance to enhance skill development and training quality</a:t>
            </a:r>
            <a:endParaRPr lang="en-US" sz="175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F1C8FE7-6526-5044-4508-F7C47CD54D16}"/>
              </a:ext>
            </a:extLst>
          </p:cNvPr>
          <p:cNvSpPr/>
          <p:nvPr/>
        </p:nvSpPr>
        <p:spPr>
          <a:xfrm>
            <a:off x="247979" y="1102636"/>
            <a:ext cx="4438321" cy="8404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DC40397-65D1-E48B-24D8-248037037237}"/>
              </a:ext>
            </a:extLst>
          </p:cNvPr>
          <p:cNvSpPr/>
          <p:nvPr/>
        </p:nvSpPr>
        <p:spPr>
          <a:xfrm>
            <a:off x="5909633" y="2134103"/>
            <a:ext cx="5221129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Upgrade Equipment and Maintenance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9F2F864-CEC9-E328-BF3F-0EA0D30B82EB}"/>
              </a:ext>
            </a:extLst>
          </p:cNvPr>
          <p:cNvSpPr/>
          <p:nvPr/>
        </p:nvSpPr>
        <p:spPr>
          <a:xfrm>
            <a:off x="5909630" y="2636917"/>
            <a:ext cx="59778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 in modern sports equipment and establish regular maintenance schedules</a:t>
            </a:r>
            <a:endParaRPr lang="en-US" sz="175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074D8AF-676F-FDAC-FCDD-86FE3A62C652}"/>
              </a:ext>
            </a:extLst>
          </p:cNvPr>
          <p:cNvSpPr/>
          <p:nvPr/>
        </p:nvSpPr>
        <p:spPr>
          <a:xfrm>
            <a:off x="5686745" y="1119502"/>
            <a:ext cx="6200775" cy="891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0242F87-C31D-9B46-ECB2-59C116E240A1}"/>
              </a:ext>
            </a:extLst>
          </p:cNvPr>
          <p:cNvSpPr/>
          <p:nvPr/>
        </p:nvSpPr>
        <p:spPr>
          <a:xfrm>
            <a:off x="415922" y="4592634"/>
            <a:ext cx="437520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Improve Court/Ground Quality and Drainage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8CEA9DE-0A88-3419-A805-C515FD635E08}"/>
              </a:ext>
            </a:extLst>
          </p:cNvPr>
          <p:cNvSpPr/>
          <p:nvPr/>
        </p:nvSpPr>
        <p:spPr>
          <a:xfrm>
            <a:off x="467606" y="5309926"/>
            <a:ext cx="437520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 playing surfaces and infrastructure for safer, better conditions</a:t>
            </a:r>
            <a:endParaRPr lang="en-US" sz="175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7D21968-5743-9D8A-DC10-DBFC0FC91724}"/>
              </a:ext>
            </a:extLst>
          </p:cNvPr>
          <p:cNvSpPr/>
          <p:nvPr/>
        </p:nvSpPr>
        <p:spPr>
          <a:xfrm>
            <a:off x="304477" y="3698297"/>
            <a:ext cx="4538334" cy="8330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4DBAF0F-5A21-F84E-5272-0002EC996552}"/>
              </a:ext>
            </a:extLst>
          </p:cNvPr>
          <p:cNvSpPr/>
          <p:nvPr/>
        </p:nvSpPr>
        <p:spPr>
          <a:xfrm>
            <a:off x="5798186" y="4611994"/>
            <a:ext cx="597789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Organise Regular Tournaments and Improve Scheduling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52D0C15-A774-3162-0D36-93B39A69270C}"/>
              </a:ext>
            </a:extLst>
          </p:cNvPr>
          <p:cNvSpPr/>
          <p:nvPr/>
        </p:nvSpPr>
        <p:spPr>
          <a:xfrm>
            <a:off x="5798186" y="5359896"/>
            <a:ext cx="597789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structured competitions and flexible timings for greater participation</a:t>
            </a:r>
            <a:endParaRPr lang="en-US" sz="175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761684C-25F9-731B-D5D4-6ED2294077B5}"/>
              </a:ext>
            </a:extLst>
          </p:cNvPr>
          <p:cNvSpPr/>
          <p:nvPr/>
        </p:nvSpPr>
        <p:spPr>
          <a:xfrm>
            <a:off x="5686744" y="3669068"/>
            <a:ext cx="6200775" cy="891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9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CC95F-2539-7F56-F0F6-451F66D39F8B}"/>
              </a:ext>
            </a:extLst>
          </p:cNvPr>
          <p:cNvSpPr/>
          <p:nvPr/>
        </p:nvSpPr>
        <p:spPr>
          <a:xfrm>
            <a:off x="1122402" y="2210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FF6699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 and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FF6699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Recommendations</a:t>
            </a:r>
            <a:endParaRPr lang="en-US" sz="4000" dirty="0">
              <a:solidFill>
                <a:srgbClr val="FF6699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70789C8-5A6E-4B49-3A31-4F063B2224AB}"/>
              </a:ext>
            </a:extLst>
          </p:cNvPr>
          <p:cNvSpPr/>
          <p:nvPr/>
        </p:nvSpPr>
        <p:spPr>
          <a:xfrm>
            <a:off x="456128" y="1942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3399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Current State</a:t>
            </a:r>
            <a:endParaRPr lang="en-US" sz="2200" dirty="0">
              <a:solidFill>
                <a:srgbClr val="FF3399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91A1368-2EA5-B9D6-FB83-858052F0167D}"/>
              </a:ext>
            </a:extLst>
          </p:cNvPr>
          <p:cNvSpPr/>
          <p:nvPr/>
        </p:nvSpPr>
        <p:spPr>
          <a:xfrm>
            <a:off x="456128" y="2493169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UET Lahore has demonstrated strong student interest in sports, with high participation rates and clear preferences for cricket and badminton</a:t>
            </a:r>
            <a:r>
              <a:rPr lang="en-US" sz="175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864941C-A34C-657A-7D40-4ABCC43FCD75}"/>
              </a:ext>
            </a:extLst>
          </p:cNvPr>
          <p:cNvSpPr/>
          <p:nvPr/>
        </p:nvSpPr>
        <p:spPr>
          <a:xfrm>
            <a:off x="456128" y="4898131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However, facility limitations and lack of professional support are hindering optimal engagement</a:t>
            </a:r>
            <a:r>
              <a:rPr lang="en-US" sz="175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1D55BE3-09B4-A844-C76D-D7A1A052A7EB}"/>
              </a:ext>
            </a:extLst>
          </p:cNvPr>
          <p:cNvSpPr/>
          <p:nvPr/>
        </p:nvSpPr>
        <p:spPr>
          <a:xfrm>
            <a:off x="5651956" y="1942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3399"/>
                </a:solidFill>
                <a:latin typeface="Arial Black" panose="020B0A04020102020204" pitchFamily="34" charset="0"/>
                <a:ea typeface="Bricolage Grotesque Extra Bold" pitchFamily="34" charset="-122"/>
                <a:cs typeface="Bricolage Grotesque Extra Bold" pitchFamily="34" charset="-120"/>
              </a:rPr>
              <a:t>Path Forward</a:t>
            </a:r>
            <a:endParaRPr lang="en-US" sz="2200" dirty="0">
              <a:solidFill>
                <a:srgbClr val="FF3399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8511F8F-C568-51A6-050A-C1CE353D9F90}"/>
              </a:ext>
            </a:extLst>
          </p:cNvPr>
          <p:cNvSpPr/>
          <p:nvPr/>
        </p:nvSpPr>
        <p:spPr>
          <a:xfrm>
            <a:off x="5651956" y="239838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Strategic investments </a:t>
            </a:r>
            <a:r>
              <a:rPr lang="en-US" sz="2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in infrastructure, coaching, and event management are essential.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B924651-21A4-DD48-44F4-20B518806391}"/>
              </a:ext>
            </a:extLst>
          </p:cNvPr>
          <p:cNvSpPr/>
          <p:nvPr/>
        </p:nvSpPr>
        <p:spPr>
          <a:xfrm>
            <a:off x="5651956" y="4054071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Implementing these improvements will foster a vibrant sports culture, enhance student wellbeing, and strengthen community bonds at the university.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9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423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Bricolage Grotesque Light</vt:lpstr>
      <vt:lpstr>Calibri</vt:lpstr>
      <vt:lpstr>Calibri Light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 Maqsood Ahmad</dc:creator>
  <cp:lastModifiedBy>Ali Ahmad Maqsood Ahmad</cp:lastModifiedBy>
  <cp:revision>3</cp:revision>
  <dcterms:created xsi:type="dcterms:W3CDTF">2025-11-18T09:39:56Z</dcterms:created>
  <dcterms:modified xsi:type="dcterms:W3CDTF">2025-11-25T09:23:24Z</dcterms:modified>
</cp:coreProperties>
</file>